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353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76349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3840480" cy="3840480"/>
          </a:xfrm>
          <a:prstGeom prst="ellipse">
            <a:avLst/>
          </a:prstGeom>
          <a:solidFill>
            <a:srgbClr val="1B2B4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10607040" y="4389120"/>
            <a:ext cx="2743200" cy="2743200"/>
          </a:xfrm>
          <a:prstGeom prst="ellipse">
            <a:avLst/>
          </a:prstGeom>
          <a:solidFill>
            <a:srgbClr val="1B2B4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822960" y="1417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2DD4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INVESTMENT DEBATE DASHBOARD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TickerTaka</a:t>
            </a:r>
            <a:r>
              <a:rPr lang="en-US" sz="3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티커타카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822960" y="28803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DD4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종목 토론 대시보드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41248" y="37033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7D2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뉴스 · 공시 · 재무를 근거로 토론하는 AI 투자 보조 서비스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68680" y="4526280"/>
            <a:ext cx="457200" cy="36576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841248" y="4800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D4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TEAM   </a:t>
            </a:r>
            <a:r>
              <a:rPr lang="en-US" sz="16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허유찬 · 오흥찬 · 이건희 · 최진혁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F94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PROJECT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1B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 종목을 두고 AI가 토론한다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TickerTaka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0E1B33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932688" y="1874520"/>
            <a:ext cx="566928" cy="566928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1993392"/>
            <a:ext cx="329184" cy="3291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91640" y="193852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E1B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913398" y="2606040"/>
            <a:ext cx="32095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B6B8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개인 투자자는 한 종목의 긍정·부정 정보를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B6B8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균형 있게 살펴보기 어렵다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4407408" y="160020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0E1B33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4700016" y="1874520"/>
            <a:ext cx="566928" cy="566928"/>
          </a:xfrm>
          <a:prstGeom prst="ellipse">
            <a:avLst/>
          </a:prstGeom>
          <a:solidFill>
            <a:srgbClr val="0F9488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8888" y="1993392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458968" y="193852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E1B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해결</a:t>
            </a:r>
            <a:endParaRPr lang="en-US" sz="1900" dirty="0"/>
          </a:p>
        </p:txBody>
      </p:sp>
      <p:sp>
        <p:nvSpPr>
          <p:cNvPr id="15" name="Text 11"/>
          <p:cNvSpPr/>
          <p:nvPr/>
        </p:nvSpPr>
        <p:spPr>
          <a:xfrm>
            <a:off x="4680726" y="2606040"/>
            <a:ext cx="32095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B6B8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Bull(매수) · Bear(매도)가 토론하고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B6B8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Moderator</a:t>
            </a:r>
            <a:r>
              <a:rPr lang="en-US" altLang="ko-KR" sz="1350" dirty="0">
                <a:solidFill>
                  <a:srgbClr val="5B6B8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</a:t>
            </a:r>
            <a:r>
              <a:rPr lang="ko-KR" altLang="en-US" sz="1350" dirty="0">
                <a:solidFill>
                  <a:srgbClr val="5B6B8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사회자</a:t>
            </a:r>
            <a:r>
              <a:rPr lang="en-US" altLang="ko-KR" sz="1350" dirty="0">
                <a:solidFill>
                  <a:srgbClr val="5B6B8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)</a:t>
            </a:r>
            <a:r>
              <a:rPr lang="ko-KR" altLang="en-US" sz="1350" dirty="0">
                <a:solidFill>
                  <a:srgbClr val="5B6B8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</a:t>
            </a:r>
            <a:r>
              <a:rPr lang="en-US" sz="1350" dirty="0">
                <a:solidFill>
                  <a:srgbClr val="5B6B8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중립적으로 정리한다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8174736" y="160020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0E1B33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3"/>
          <p:cNvSpPr/>
          <p:nvPr/>
        </p:nvSpPr>
        <p:spPr>
          <a:xfrm>
            <a:off x="8467344" y="1874520"/>
            <a:ext cx="566928" cy="566928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86216" y="1993392"/>
            <a:ext cx="329184" cy="32918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226296" y="193852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E1B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환각 차단</a:t>
            </a:r>
            <a:endParaRPr lang="en-US" sz="1900" dirty="0"/>
          </a:p>
        </p:txBody>
      </p:sp>
      <p:sp>
        <p:nvSpPr>
          <p:cNvPr id="20" name="Text 15"/>
          <p:cNvSpPr/>
          <p:nvPr/>
        </p:nvSpPr>
        <p:spPr>
          <a:xfrm>
            <a:off x="8523210" y="260604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B6B8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모든 발언에 출처(근거) 1개 이상 강제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B6B8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사실에 기반한 토론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640080" y="4069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94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흐름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640080" y="4434840"/>
            <a:ext cx="2468880" cy="868680"/>
          </a:xfrm>
          <a:prstGeom prst="roundRect">
            <a:avLst>
              <a:gd name="adj" fmla="val 631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18"/>
          <p:cNvSpPr/>
          <p:nvPr/>
        </p:nvSpPr>
        <p:spPr>
          <a:xfrm>
            <a:off x="804672" y="45811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94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2200" dirty="0"/>
          </a:p>
        </p:txBody>
      </p:sp>
      <p:sp>
        <p:nvSpPr>
          <p:cNvPr id="24" name="Text 19"/>
          <p:cNvSpPr/>
          <p:nvPr/>
        </p:nvSpPr>
        <p:spPr>
          <a:xfrm>
            <a:off x="1280160" y="443484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관심 종목 추가</a:t>
            </a:r>
            <a:endParaRPr lang="en-US" sz="1450" dirty="0"/>
          </a:p>
        </p:txBody>
      </p:sp>
      <p:sp>
        <p:nvSpPr>
          <p:cNvPr id="25" name="Text 20"/>
          <p:cNvSpPr/>
          <p:nvPr/>
        </p:nvSpPr>
        <p:spPr>
          <a:xfrm>
            <a:off x="3127248" y="4434840"/>
            <a:ext cx="411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DD4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›</a:t>
            </a:r>
            <a:endParaRPr lang="en-US" sz="2600" dirty="0"/>
          </a:p>
        </p:txBody>
      </p:sp>
      <p:sp>
        <p:nvSpPr>
          <p:cNvPr id="26" name="Shape 21"/>
          <p:cNvSpPr/>
          <p:nvPr/>
        </p:nvSpPr>
        <p:spPr>
          <a:xfrm>
            <a:off x="3520440" y="4434840"/>
            <a:ext cx="2468880" cy="868680"/>
          </a:xfrm>
          <a:prstGeom prst="roundRect">
            <a:avLst>
              <a:gd name="adj" fmla="val 631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2"/>
          <p:cNvSpPr/>
          <p:nvPr/>
        </p:nvSpPr>
        <p:spPr>
          <a:xfrm>
            <a:off x="3685032" y="45811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94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2200" dirty="0"/>
          </a:p>
        </p:txBody>
      </p:sp>
      <p:sp>
        <p:nvSpPr>
          <p:cNvPr id="28" name="Text 23"/>
          <p:cNvSpPr/>
          <p:nvPr/>
        </p:nvSpPr>
        <p:spPr>
          <a:xfrm>
            <a:off x="4160520" y="443484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관련 자료 수집</a:t>
            </a:r>
            <a:endParaRPr lang="en-US" sz="1450" dirty="0"/>
          </a:p>
        </p:txBody>
      </p:sp>
      <p:sp>
        <p:nvSpPr>
          <p:cNvPr id="29" name="Text 24"/>
          <p:cNvSpPr/>
          <p:nvPr/>
        </p:nvSpPr>
        <p:spPr>
          <a:xfrm>
            <a:off x="6007608" y="4434840"/>
            <a:ext cx="411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DD4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›</a:t>
            </a:r>
            <a:endParaRPr lang="en-US" sz="2600" dirty="0"/>
          </a:p>
        </p:txBody>
      </p:sp>
      <p:sp>
        <p:nvSpPr>
          <p:cNvPr id="30" name="Shape 25"/>
          <p:cNvSpPr/>
          <p:nvPr/>
        </p:nvSpPr>
        <p:spPr>
          <a:xfrm>
            <a:off x="6400800" y="4434840"/>
            <a:ext cx="2468880" cy="868680"/>
          </a:xfrm>
          <a:prstGeom prst="roundRect">
            <a:avLst>
              <a:gd name="adj" fmla="val 631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6"/>
          <p:cNvSpPr/>
          <p:nvPr/>
        </p:nvSpPr>
        <p:spPr>
          <a:xfrm>
            <a:off x="6565392" y="45811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94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2200" dirty="0"/>
          </a:p>
        </p:txBody>
      </p:sp>
      <p:sp>
        <p:nvSpPr>
          <p:cNvPr id="32" name="Text 27"/>
          <p:cNvSpPr/>
          <p:nvPr/>
        </p:nvSpPr>
        <p:spPr>
          <a:xfrm>
            <a:off x="7040880" y="443484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3라운드 토론</a:t>
            </a:r>
            <a:endParaRPr lang="en-US" sz="1450" dirty="0"/>
          </a:p>
        </p:txBody>
      </p:sp>
      <p:sp>
        <p:nvSpPr>
          <p:cNvPr id="33" name="Text 28"/>
          <p:cNvSpPr/>
          <p:nvPr/>
        </p:nvSpPr>
        <p:spPr>
          <a:xfrm>
            <a:off x="8887968" y="4434840"/>
            <a:ext cx="411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DD4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›</a:t>
            </a:r>
            <a:endParaRPr lang="en-US" sz="2600" dirty="0"/>
          </a:p>
        </p:txBody>
      </p:sp>
      <p:sp>
        <p:nvSpPr>
          <p:cNvPr id="34" name="Shape 29"/>
          <p:cNvSpPr/>
          <p:nvPr/>
        </p:nvSpPr>
        <p:spPr>
          <a:xfrm>
            <a:off x="9281160" y="4434840"/>
            <a:ext cx="2468880" cy="868680"/>
          </a:xfrm>
          <a:prstGeom prst="roundRect">
            <a:avLst>
              <a:gd name="adj" fmla="val 6316"/>
            </a:avLst>
          </a:prstGeom>
          <a:solidFill>
            <a:srgbClr val="0E1B33"/>
          </a:solidFill>
          <a:ln w="12700">
            <a:solidFill>
              <a:srgbClr val="0E1B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0"/>
          <p:cNvSpPr/>
          <p:nvPr/>
        </p:nvSpPr>
        <p:spPr>
          <a:xfrm>
            <a:off x="9445752" y="45811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DD4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2200" dirty="0"/>
          </a:p>
        </p:txBody>
      </p:sp>
      <p:sp>
        <p:nvSpPr>
          <p:cNvPr id="36" name="Text 31"/>
          <p:cNvSpPr/>
          <p:nvPr/>
        </p:nvSpPr>
        <p:spPr>
          <a:xfrm>
            <a:off x="9921240" y="443484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투자 결정 보조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F94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CORE DESIGN PRINCIPLES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1B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토론을 위한 4가지 설계 원칙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TickerTaka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5285232" cy="1874520"/>
          </a:xfrm>
          <a:prstGeom prst="roundRect">
            <a:avLst>
              <a:gd name="adj" fmla="val 390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0E1B33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960120" y="2011680"/>
            <a:ext cx="640080" cy="64008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14884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828800" y="198424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1B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3개 핵심 도메인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280160" y="2630779"/>
            <a:ext cx="3886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5B6B8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관심종목 대시보드 · 종목 상세 분석 · 카테고리형 토론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72200" y="1691640"/>
            <a:ext cx="5285232" cy="1874520"/>
          </a:xfrm>
          <a:prstGeom prst="roundRect">
            <a:avLst>
              <a:gd name="adj" fmla="val 390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0E1B33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6492240" y="2011680"/>
            <a:ext cx="640080" cy="640080"/>
          </a:xfrm>
          <a:prstGeom prst="ellipse">
            <a:avLst/>
          </a:prstGeom>
          <a:solidFill>
            <a:srgbClr val="0F9488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214884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360920" y="198424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1B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고정된 토론 구조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6245352" y="2638044"/>
            <a:ext cx="55058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8000"/>
              </a:lnSpc>
            </a:pPr>
            <a:r>
              <a:rPr lang="en-US" sz="1300" dirty="0">
                <a:solidFill>
                  <a:srgbClr val="5B6B8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카테고리 3개(기술적·재무·시장) × 3라운드</a:t>
            </a:r>
            <a:r>
              <a:rPr lang="en-US" altLang="ko-KR" sz="1300" dirty="0">
                <a:solidFill>
                  <a:srgbClr val="5B6B8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</a:t>
            </a:r>
            <a:r>
              <a:rPr lang="en-US" altLang="ko-KR" sz="1300" dirty="0" err="1">
                <a:solidFill>
                  <a:srgbClr val="5B6B8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opening·rebuttal·closing</a:t>
            </a:r>
            <a:r>
              <a:rPr lang="en-US" altLang="ko-KR" sz="1300" dirty="0">
                <a:solidFill>
                  <a:srgbClr val="5B6B8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)</a:t>
            </a:r>
            <a:endParaRPr lang="en-US" altLang="ko-KR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3794760"/>
            <a:ext cx="5285232" cy="1874520"/>
          </a:xfrm>
          <a:prstGeom prst="roundRect">
            <a:avLst>
              <a:gd name="adj" fmla="val 390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0E1B33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3"/>
          <p:cNvSpPr/>
          <p:nvPr/>
        </p:nvSpPr>
        <p:spPr>
          <a:xfrm>
            <a:off x="960120" y="4114800"/>
            <a:ext cx="640080" cy="64008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7280" y="4251960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828800" y="408736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1B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3종의 AI 에이전트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1097280" y="4732020"/>
            <a:ext cx="433525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5B6B8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Bull(매수 관점) · Bear(매도 관점) · Moderator(중립 사회자)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6172200" y="3794760"/>
            <a:ext cx="5285232" cy="1874520"/>
          </a:xfrm>
          <a:prstGeom prst="roundRect">
            <a:avLst>
              <a:gd name="adj" fmla="val 390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0E1B33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7"/>
          <p:cNvSpPr/>
          <p:nvPr/>
        </p:nvSpPr>
        <p:spPr>
          <a:xfrm>
            <a:off x="6492240" y="4114800"/>
            <a:ext cx="640080" cy="640080"/>
          </a:xfrm>
          <a:prstGeom prst="ellipse">
            <a:avLst/>
          </a:prstGeom>
          <a:solidFill>
            <a:srgbClr val="0F9488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9400" y="4251960"/>
            <a:ext cx="365760" cy="36576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360920" y="408736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1B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마이데이터 미사용</a:t>
            </a:r>
            <a:endParaRPr lang="en-US" sz="1800" dirty="0"/>
          </a:p>
        </p:txBody>
      </p:sp>
      <p:sp>
        <p:nvSpPr>
          <p:cNvPr id="25" name="Text 19"/>
          <p:cNvSpPr/>
          <p:nvPr/>
        </p:nvSpPr>
        <p:spPr>
          <a:xfrm>
            <a:off x="6895139" y="4719494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5B6B8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관심종목 + 메모만 — </a:t>
            </a:r>
            <a:r>
              <a:rPr lang="en-US" sz="1300" dirty="0" err="1">
                <a:solidFill>
                  <a:srgbClr val="5B6B8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보유</a:t>
            </a:r>
            <a:r>
              <a:rPr lang="en-US" sz="1300" dirty="0">
                <a:solidFill>
                  <a:srgbClr val="5B6B8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300" dirty="0" err="1">
                <a:solidFill>
                  <a:srgbClr val="5B6B8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수량</a:t>
            </a:r>
            <a:r>
              <a:rPr lang="en-US" sz="1300" dirty="0">
                <a:solidFill>
                  <a:srgbClr val="5B6B8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</a:t>
            </a:r>
            <a:r>
              <a:rPr lang="en-US" sz="1300" dirty="0" err="1">
                <a:solidFill>
                  <a:srgbClr val="5B6B8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평단가는</a:t>
            </a:r>
            <a:r>
              <a:rPr lang="en-US" sz="1300" dirty="0">
                <a:solidFill>
                  <a:srgbClr val="5B6B8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입력받지 않음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F94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TECH STACK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1B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검증 가능한 토론을 받치는 기술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TickerTaka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645920"/>
            <a:ext cx="10908792" cy="786384"/>
          </a:xfrm>
          <a:prstGeom prst="roundRect">
            <a:avLst>
              <a:gd name="adj" fmla="val 697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640080" y="1645920"/>
            <a:ext cx="109728" cy="786384"/>
          </a:xfrm>
          <a:prstGeom prst="roundRect">
            <a:avLst>
              <a:gd name="adj" fmla="val 25000"/>
            </a:avLst>
          </a:prstGeom>
          <a:solidFill>
            <a:srgbClr val="0E1B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914400" y="1828800"/>
            <a:ext cx="475488" cy="475488"/>
          </a:xfrm>
          <a:prstGeom prst="ellipse">
            <a:avLst/>
          </a:prstGeom>
          <a:solidFill>
            <a:srgbClr val="0E1B33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" y="1947672"/>
            <a:ext cx="246888" cy="24688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645920" y="1645920"/>
            <a:ext cx="2651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1B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Backend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4297680" y="1645920"/>
            <a:ext cx="7040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8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FastAPI · SQLAlchemy 2.0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40080" y="2569464"/>
            <a:ext cx="10908792" cy="786384"/>
          </a:xfrm>
          <a:prstGeom prst="roundRect">
            <a:avLst>
              <a:gd name="adj" fmla="val 697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640080" y="2569464"/>
            <a:ext cx="109728" cy="786384"/>
          </a:xfrm>
          <a:prstGeom prst="roundRect">
            <a:avLst>
              <a:gd name="adj" fmla="val 25000"/>
            </a:avLst>
          </a:prstGeom>
          <a:solidFill>
            <a:srgbClr val="0F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914400" y="2752344"/>
            <a:ext cx="475488" cy="475488"/>
          </a:xfrm>
          <a:prstGeom prst="ellipse">
            <a:avLst/>
          </a:prstGeom>
          <a:solidFill>
            <a:srgbClr val="0F9488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272" y="2871216"/>
            <a:ext cx="246888" cy="24688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645920" y="2569464"/>
            <a:ext cx="2651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1B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저장소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4297680" y="2569464"/>
            <a:ext cx="7040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8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PostgreSQL(영구) · Redis(저지연) · ChromaDB(의미검색)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640080" y="3493008"/>
            <a:ext cx="10908792" cy="786384"/>
          </a:xfrm>
          <a:prstGeom prst="roundRect">
            <a:avLst>
              <a:gd name="adj" fmla="val 697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5"/>
          <p:cNvSpPr/>
          <p:nvPr/>
        </p:nvSpPr>
        <p:spPr>
          <a:xfrm>
            <a:off x="640080" y="3493008"/>
            <a:ext cx="109728" cy="786384"/>
          </a:xfrm>
          <a:prstGeom prst="roundRect">
            <a:avLst>
              <a:gd name="adj" fmla="val 25000"/>
            </a:avLst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6"/>
          <p:cNvSpPr/>
          <p:nvPr/>
        </p:nvSpPr>
        <p:spPr>
          <a:xfrm>
            <a:off x="914400" y="3675888"/>
            <a:ext cx="475488" cy="475488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3272" y="3794760"/>
            <a:ext cx="246888" cy="24688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645920" y="3493008"/>
            <a:ext cx="2651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1B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오케스트레이션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4297680" y="3493008"/>
            <a:ext cx="7040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8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LangGraph — 토론 워크플로우 그래프</a:t>
            </a:r>
            <a:endParaRPr lang="en-US" sz="1400" dirty="0"/>
          </a:p>
        </p:txBody>
      </p:sp>
      <p:sp>
        <p:nvSpPr>
          <p:cNvPr id="24" name="Shape 19"/>
          <p:cNvSpPr/>
          <p:nvPr/>
        </p:nvSpPr>
        <p:spPr>
          <a:xfrm>
            <a:off x="640080" y="4416552"/>
            <a:ext cx="10908792" cy="786384"/>
          </a:xfrm>
          <a:prstGeom prst="roundRect">
            <a:avLst>
              <a:gd name="adj" fmla="val 697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0"/>
          <p:cNvSpPr/>
          <p:nvPr/>
        </p:nvSpPr>
        <p:spPr>
          <a:xfrm>
            <a:off x="640080" y="4416552"/>
            <a:ext cx="109728" cy="786384"/>
          </a:xfrm>
          <a:prstGeom prst="roundRect">
            <a:avLst>
              <a:gd name="adj" fmla="val 25000"/>
            </a:avLst>
          </a:prstGeom>
          <a:solidFill>
            <a:srgbClr val="0F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1"/>
          <p:cNvSpPr/>
          <p:nvPr/>
        </p:nvSpPr>
        <p:spPr>
          <a:xfrm>
            <a:off x="914400" y="4599432"/>
            <a:ext cx="475488" cy="475488"/>
          </a:xfrm>
          <a:prstGeom prst="ellipse">
            <a:avLst/>
          </a:prstGeom>
          <a:solidFill>
            <a:srgbClr val="0F9488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3272" y="4718304"/>
            <a:ext cx="246888" cy="246888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645920" y="4416552"/>
            <a:ext cx="2651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1B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LLM</a:t>
            </a:r>
            <a:endParaRPr lang="en-US" sz="1600" dirty="0"/>
          </a:p>
        </p:txBody>
      </p:sp>
      <p:sp>
        <p:nvSpPr>
          <p:cNvPr id="29" name="Text 23"/>
          <p:cNvSpPr/>
          <p:nvPr/>
        </p:nvSpPr>
        <p:spPr>
          <a:xfrm>
            <a:off x="4297680" y="4416552"/>
            <a:ext cx="7040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8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OpenRouter 경유 · 역할별 모델 분리</a:t>
            </a:r>
            <a:endParaRPr lang="en-US" sz="1400" dirty="0"/>
          </a:p>
        </p:txBody>
      </p:sp>
      <p:sp>
        <p:nvSpPr>
          <p:cNvPr id="30" name="Shape 24"/>
          <p:cNvSpPr/>
          <p:nvPr/>
        </p:nvSpPr>
        <p:spPr>
          <a:xfrm>
            <a:off x="640080" y="5340096"/>
            <a:ext cx="10908792" cy="786384"/>
          </a:xfrm>
          <a:prstGeom prst="roundRect">
            <a:avLst>
              <a:gd name="adj" fmla="val 697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5"/>
          <p:cNvSpPr/>
          <p:nvPr/>
        </p:nvSpPr>
        <p:spPr>
          <a:xfrm>
            <a:off x="640080" y="5340096"/>
            <a:ext cx="109728" cy="786384"/>
          </a:xfrm>
          <a:prstGeom prst="roundRect">
            <a:avLst>
              <a:gd name="adj" fmla="val 25000"/>
            </a:avLst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26"/>
          <p:cNvSpPr/>
          <p:nvPr/>
        </p:nvSpPr>
        <p:spPr>
          <a:xfrm>
            <a:off x="914400" y="5522976"/>
            <a:ext cx="475488" cy="475488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3272" y="5641848"/>
            <a:ext cx="246888" cy="246888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1645920" y="5340096"/>
            <a:ext cx="2651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1B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외부 데이터</a:t>
            </a:r>
            <a:endParaRPr lang="en-US" sz="1600" dirty="0"/>
          </a:p>
        </p:txBody>
      </p:sp>
      <p:sp>
        <p:nvSpPr>
          <p:cNvPr id="35" name="Text 28"/>
          <p:cNvSpPr/>
          <p:nvPr/>
        </p:nvSpPr>
        <p:spPr>
          <a:xfrm>
            <a:off x="4297680" y="5340096"/>
            <a:ext cx="7040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8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DART 공시 API · 네이버 뉴스 API · yfinance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F94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SYSTEM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1B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수집부터 저장까지, 역할이 분리된 구조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TickerTaka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1828800" cy="868680"/>
          </a:xfrm>
          <a:prstGeom prst="roundRect">
            <a:avLst>
              <a:gd name="adj" fmla="val 6316"/>
            </a:avLst>
          </a:prstGeom>
          <a:solidFill>
            <a:srgbClr val="0E1B33"/>
          </a:solidFill>
          <a:ln/>
          <a:effectLst>
            <a:outerShdw blurRad="114300" dist="38100" dir="5400000" algn="bl" rotWithShape="0">
              <a:srgbClr val="0E1B33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640080" y="1938528"/>
            <a:ext cx="1828800" cy="3909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31520" y="2263140"/>
            <a:ext cx="1645920" cy="364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관심종목·토론 요청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542032" y="2258568"/>
            <a:ext cx="640080" cy="0"/>
          </a:xfrm>
          <a:prstGeom prst="line">
            <a:avLst/>
          </a:prstGeom>
          <a:noFill/>
          <a:ln w="28575">
            <a:solidFill>
              <a:srgbClr val="2DD4BF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3246120" y="1828800"/>
            <a:ext cx="2103120" cy="868680"/>
          </a:xfrm>
          <a:prstGeom prst="roundRect">
            <a:avLst>
              <a:gd name="adj" fmla="val 6316"/>
            </a:avLst>
          </a:prstGeom>
          <a:solidFill>
            <a:srgbClr val="0F9488"/>
          </a:solidFill>
          <a:ln/>
          <a:effectLst>
            <a:outerShdw blurRad="114300" dist="38100" dir="5400000" algn="bl" rotWithShape="0">
              <a:srgbClr val="0E1B33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3246120" y="1938528"/>
            <a:ext cx="2103120" cy="3909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FastAPI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3337560" y="2263140"/>
            <a:ext cx="1920240" cy="364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API 게이트웨이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394960" y="2258568"/>
            <a:ext cx="868054" cy="0"/>
          </a:xfrm>
          <a:prstGeom prst="line">
            <a:avLst/>
          </a:prstGeom>
          <a:noFill/>
          <a:ln w="28575">
            <a:solidFill>
              <a:srgbClr val="2DD4BF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5212080" y="15087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3저장소 분담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400800" y="1828800"/>
            <a:ext cx="1737360" cy="868680"/>
          </a:xfrm>
          <a:prstGeom prst="roundRect">
            <a:avLst>
              <a:gd name="adj" fmla="val 6316"/>
            </a:avLst>
          </a:prstGeom>
          <a:solidFill>
            <a:srgbClr val="3B82F6"/>
          </a:solidFill>
          <a:ln/>
          <a:effectLst>
            <a:outerShdw blurRad="114300" dist="38100" dir="5400000" algn="bl" rotWithShape="0">
              <a:srgbClr val="0E1B33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6400800" y="1938528"/>
            <a:ext cx="1737360" cy="3909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PostgreSQL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492240" y="2263140"/>
            <a:ext cx="1554480" cy="364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영구 데이터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275320" y="1828800"/>
            <a:ext cx="1737360" cy="868680"/>
          </a:xfrm>
          <a:prstGeom prst="roundRect">
            <a:avLst>
              <a:gd name="adj" fmla="val 6316"/>
            </a:avLst>
          </a:prstGeom>
          <a:solidFill>
            <a:srgbClr val="1B2B4D"/>
          </a:solidFill>
          <a:ln/>
          <a:effectLst>
            <a:outerShdw blurRad="114300" dist="38100" dir="5400000" algn="bl" rotWithShape="0">
              <a:srgbClr val="0E1B33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8275320" y="1938528"/>
            <a:ext cx="1737360" cy="3909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Redis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8366760" y="2263140"/>
            <a:ext cx="1554480" cy="364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lock·현재가·rate limit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10149840" y="1828800"/>
            <a:ext cx="1737360" cy="868680"/>
          </a:xfrm>
          <a:prstGeom prst="roundRect">
            <a:avLst>
              <a:gd name="adj" fmla="val 6316"/>
            </a:avLst>
          </a:prstGeom>
          <a:solidFill>
            <a:srgbClr val="0F9488"/>
          </a:solidFill>
          <a:ln/>
          <a:effectLst>
            <a:outerShdw blurRad="114300" dist="38100" dir="5400000" algn="bl" rotWithShape="0">
              <a:srgbClr val="0E1B33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10149840" y="1938528"/>
            <a:ext cx="1737360" cy="3909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ChromaDB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0241280" y="2263140"/>
            <a:ext cx="1554480" cy="364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뉴스/공시 임베딩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40080" y="4434840"/>
            <a:ext cx="2331720" cy="9144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5875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0E1B33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640080" y="454456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E1B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외부 API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731520" y="489204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8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DART·네이버뉴스·yfinance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044952" y="4892040"/>
            <a:ext cx="566928" cy="0"/>
          </a:xfrm>
          <a:prstGeom prst="line">
            <a:avLst/>
          </a:prstGeom>
          <a:noFill/>
          <a:ln w="28575">
            <a:solidFill>
              <a:srgbClr val="2DD4BF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3685032" y="4434840"/>
            <a:ext cx="2240280" cy="914400"/>
          </a:xfrm>
          <a:prstGeom prst="roundRect">
            <a:avLst>
              <a:gd name="adj" fmla="val 6000"/>
            </a:avLst>
          </a:prstGeom>
          <a:solidFill>
            <a:srgbClr val="0E1B33"/>
          </a:solidFill>
          <a:ln/>
          <a:effectLst>
            <a:outerShdw blurRad="114300" dist="38100" dir="5400000" algn="bl" rotWithShape="0">
              <a:srgbClr val="0E1B33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3685032" y="4544568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수집 파이프라인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3776472" y="489204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정제·관련도 필터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998464" y="4892040"/>
            <a:ext cx="566928" cy="0"/>
          </a:xfrm>
          <a:prstGeom prst="line">
            <a:avLst/>
          </a:prstGeom>
          <a:noFill/>
          <a:ln w="28575">
            <a:solidFill>
              <a:srgbClr val="2DD4BF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6638544" y="4434840"/>
            <a:ext cx="2240280" cy="914400"/>
          </a:xfrm>
          <a:prstGeom prst="roundRect">
            <a:avLst>
              <a:gd name="adj" fmla="val 6000"/>
            </a:avLst>
          </a:prstGeom>
          <a:solidFill>
            <a:srgbClr val="0F9488"/>
          </a:solidFill>
          <a:ln/>
          <a:effectLst>
            <a:outerShdw blurRad="114300" dist="38100" dir="5400000" algn="bl" rotWithShape="0">
              <a:srgbClr val="0E1B33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6638544" y="4544568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캐시 DB</a:t>
            </a:r>
            <a:endParaRPr lang="en-US" sz="1450" dirty="0"/>
          </a:p>
        </p:txBody>
      </p:sp>
      <p:sp>
        <p:nvSpPr>
          <p:cNvPr id="35" name="Text 33"/>
          <p:cNvSpPr/>
          <p:nvPr/>
        </p:nvSpPr>
        <p:spPr>
          <a:xfrm>
            <a:off x="6729984" y="489204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news/filing_cache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8951976" y="4892040"/>
            <a:ext cx="566928" cy="0"/>
          </a:xfrm>
          <a:prstGeom prst="line">
            <a:avLst/>
          </a:prstGeom>
          <a:noFill/>
          <a:ln w="28575">
            <a:solidFill>
              <a:srgbClr val="2DD4BF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5"/>
          <p:cNvSpPr/>
          <p:nvPr/>
        </p:nvSpPr>
        <p:spPr>
          <a:xfrm>
            <a:off x="9592056" y="4434840"/>
            <a:ext cx="1956816" cy="914400"/>
          </a:xfrm>
          <a:prstGeom prst="roundRect">
            <a:avLst>
              <a:gd name="adj" fmla="val 6000"/>
            </a:avLst>
          </a:prstGeom>
          <a:solidFill>
            <a:srgbClr val="3B82F6"/>
          </a:solidFill>
          <a:ln/>
          <a:effectLst>
            <a:outerShdw blurRad="114300" dist="38100" dir="5400000" algn="bl" rotWithShape="0">
              <a:srgbClr val="0E1B33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9592056" y="4544568"/>
            <a:ext cx="1956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Chroma 인덱싱</a:t>
            </a:r>
            <a:endParaRPr lang="en-US" sz="1450" dirty="0"/>
          </a:p>
        </p:txBody>
      </p:sp>
      <p:sp>
        <p:nvSpPr>
          <p:cNvPr id="39" name="Text 37"/>
          <p:cNvSpPr/>
          <p:nvPr/>
        </p:nvSpPr>
        <p:spPr>
          <a:xfrm>
            <a:off x="9683496" y="4892040"/>
            <a:ext cx="1773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의미검색 준비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40080" y="4069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94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수집 → 인덱싱 경로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40080" y="14813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94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애플리케이션 요청 경로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F94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DATA PIPELINE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1B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수집한 자료를 토론의 '근거'로 만든다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TickerTaka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3200400" cy="1051560"/>
          </a:xfrm>
          <a:prstGeom prst="roundRect">
            <a:avLst>
              <a:gd name="adj" fmla="val 6087"/>
            </a:avLst>
          </a:prstGeom>
          <a:solidFill>
            <a:srgbClr val="3B82F6"/>
          </a:solidFill>
          <a:ln/>
          <a:effectLst>
            <a:outerShdw blurRad="114300" dist="38100" dir="5400000" algn="bl" rotWithShape="0">
              <a:srgbClr val="0E1B33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31520" y="229514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뉴스 / 공시 수집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31520" y="266090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DART · 네이버뉴스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895344" y="2674620"/>
            <a:ext cx="457200" cy="0"/>
          </a:xfrm>
          <a:prstGeom prst="line">
            <a:avLst/>
          </a:prstGeom>
          <a:noFill/>
          <a:ln w="31750">
            <a:solidFill>
              <a:srgbClr val="2DD4BF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4407408" y="2148840"/>
            <a:ext cx="3200400" cy="1051560"/>
          </a:xfrm>
          <a:prstGeom prst="roundRect">
            <a:avLst>
              <a:gd name="adj" fmla="val 6087"/>
            </a:avLst>
          </a:prstGeom>
          <a:solidFill>
            <a:srgbClr val="0E1B33"/>
          </a:solidFill>
          <a:ln/>
          <a:effectLst>
            <a:outerShdw blurRad="114300" dist="38100" dir="5400000" algn="bl" rotWithShape="0">
              <a:srgbClr val="0E1B33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4498848" y="229514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cache 저장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498848" y="266090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news/filing_cache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662672" y="2674620"/>
            <a:ext cx="457200" cy="0"/>
          </a:xfrm>
          <a:prstGeom prst="line">
            <a:avLst/>
          </a:prstGeom>
          <a:noFill/>
          <a:ln w="31750">
            <a:solidFill>
              <a:srgbClr val="2DD4BF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8174736" y="2148840"/>
            <a:ext cx="3200400" cy="1051560"/>
          </a:xfrm>
          <a:prstGeom prst="roundRect">
            <a:avLst>
              <a:gd name="adj" fmla="val 6087"/>
            </a:avLst>
          </a:prstGeom>
          <a:solidFill>
            <a:srgbClr val="0F9488"/>
          </a:solidFill>
          <a:ln/>
          <a:effectLst>
            <a:outerShdw blurRad="114300" dist="38100" dir="5400000" algn="bl" rotWithShape="0">
              <a:srgbClr val="0E1B33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8266176" y="229514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Chroma 임베딩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266176" y="266090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벡터 인덱싱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774936" y="3200400"/>
            <a:ext cx="0" cy="411480"/>
          </a:xfrm>
          <a:prstGeom prst="line">
            <a:avLst/>
          </a:prstGeom>
          <a:noFill/>
          <a:ln w="3175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2240280" y="3611880"/>
            <a:ext cx="7534656" cy="0"/>
          </a:xfrm>
          <a:prstGeom prst="line">
            <a:avLst/>
          </a:prstGeom>
          <a:noFill/>
          <a:ln w="3175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2240280" y="3611880"/>
            <a:ext cx="0" cy="502920"/>
          </a:xfrm>
          <a:prstGeom prst="line">
            <a:avLst/>
          </a:prstGeom>
          <a:noFill/>
          <a:ln w="31750">
            <a:solidFill>
              <a:srgbClr val="2DD4BF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640080" y="3977640"/>
            <a:ext cx="3200400" cy="1051560"/>
          </a:xfrm>
          <a:prstGeom prst="roundRect">
            <a:avLst>
              <a:gd name="adj" fmla="val 6087"/>
            </a:avLst>
          </a:prstGeom>
          <a:solidFill>
            <a:srgbClr val="0F9488"/>
          </a:solidFill>
          <a:ln/>
          <a:effectLst>
            <a:outerShdw blurRad="114300" dist="38100" dir="5400000" algn="bl" rotWithShape="0">
              <a:srgbClr val="0E1B33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731520" y="412394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EvidenceRetrieval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731520" y="450223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의미검색으로 근거 후보 추출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895344" y="4503420"/>
            <a:ext cx="457200" cy="0"/>
          </a:xfrm>
          <a:prstGeom prst="line">
            <a:avLst/>
          </a:prstGeom>
          <a:noFill/>
          <a:ln w="31750">
            <a:solidFill>
              <a:srgbClr val="2DD4BF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4407408" y="3977640"/>
            <a:ext cx="3200400" cy="1051560"/>
          </a:xfrm>
          <a:prstGeom prst="roundRect">
            <a:avLst>
              <a:gd name="adj" fmla="val 6087"/>
            </a:avLst>
          </a:prstGeom>
          <a:solidFill>
            <a:srgbClr val="0E1B33"/>
          </a:solidFill>
          <a:ln/>
          <a:effectLst>
            <a:outerShdw blurRad="114300" dist="38100" dir="5400000" algn="bl" rotWithShape="0">
              <a:srgbClr val="0E1B33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4498848" y="412394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data 노드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4498848" y="448970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근거 묶음 구성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662672" y="4503420"/>
            <a:ext cx="457200" cy="0"/>
          </a:xfrm>
          <a:prstGeom prst="line">
            <a:avLst/>
          </a:prstGeom>
          <a:noFill/>
          <a:ln w="31750">
            <a:solidFill>
              <a:srgbClr val="2DD4BF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8174736" y="3977640"/>
            <a:ext cx="3200400" cy="1051560"/>
          </a:xfrm>
          <a:prstGeom prst="roundRect">
            <a:avLst>
              <a:gd name="adj" fmla="val 6087"/>
            </a:avLst>
          </a:prstGeom>
          <a:solidFill>
            <a:srgbClr val="3B82F6"/>
          </a:solidFill>
          <a:ln/>
          <a:effectLst>
            <a:outerShdw blurRad="114300" dist="38100" dir="5400000" algn="bl" rotWithShape="0">
              <a:srgbClr val="0E1B33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8266176" y="412394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토론 에이전트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8266176" y="448970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근거 주입 → 발언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40080" y="5623560"/>
            <a:ext cx="10908792" cy="566928"/>
          </a:xfrm>
          <a:prstGeom prst="roundRect">
            <a:avLst>
              <a:gd name="adj" fmla="val 9677"/>
            </a:avLst>
          </a:prstGeom>
          <a:solidFill>
            <a:srgbClr val="0E1B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640080" y="5623560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DD4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  </a:t>
            </a:r>
            <a:r>
              <a:rPr lang="en-US" sz="13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관련 자료를 찾아 토론의 근거로 주입한다 — 출처 없는 주장은 발언이 되지 못한다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F94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DEBATE WORKFLOW · LangGraph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1B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사회자가 통제하는 3라운드 토론 그래프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TickerTaka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2011680"/>
            <a:ext cx="1554480" cy="868680"/>
          </a:xfrm>
          <a:prstGeom prst="roundRect">
            <a:avLst>
              <a:gd name="adj" fmla="val 7368"/>
            </a:avLst>
          </a:prstGeom>
          <a:solidFill>
            <a:srgbClr val="0E1B33"/>
          </a:solidFill>
          <a:ln/>
          <a:effectLst>
            <a:outerShdw blurRad="114300" dist="38100" dir="5400000" algn="bl" rotWithShape="0">
              <a:srgbClr val="0E1B33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685800" y="201168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data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249424" y="2446020"/>
            <a:ext cx="457200" cy="0"/>
          </a:xfrm>
          <a:prstGeom prst="line">
            <a:avLst/>
          </a:prstGeom>
          <a:noFill/>
          <a:ln w="31750">
            <a:solidFill>
              <a:srgbClr val="2DD4BF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2761488" y="2011680"/>
            <a:ext cx="1828800" cy="868680"/>
          </a:xfrm>
          <a:prstGeom prst="roundRect">
            <a:avLst>
              <a:gd name="adj" fmla="val 7368"/>
            </a:avLst>
          </a:prstGeom>
          <a:solidFill>
            <a:srgbClr val="0F9488"/>
          </a:solidFill>
          <a:ln/>
          <a:effectLst>
            <a:outerShdw blurRad="114300" dist="38100" dir="5400000" algn="bl" rotWithShape="0">
              <a:srgbClr val="0E1B33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2807208" y="201168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moderator_pre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45152" y="2446020"/>
            <a:ext cx="457200" cy="0"/>
          </a:xfrm>
          <a:prstGeom prst="line">
            <a:avLst/>
          </a:prstGeom>
          <a:noFill/>
          <a:ln w="31750">
            <a:solidFill>
              <a:srgbClr val="2DD4BF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5157216" y="1847088"/>
            <a:ext cx="2788920" cy="1207008"/>
          </a:xfrm>
          <a:prstGeom prst="roundRect">
            <a:avLst>
              <a:gd name="adj" fmla="val 6061"/>
            </a:avLst>
          </a:prstGeom>
          <a:solidFill>
            <a:srgbClr val="F8FAFC"/>
          </a:solidFill>
          <a:ln w="15875">
            <a:solidFill>
              <a:srgbClr val="2DD4BF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5340096" y="1993392"/>
            <a:ext cx="1143000" cy="566928"/>
          </a:xfrm>
          <a:prstGeom prst="roundRect">
            <a:avLst>
              <a:gd name="adj" fmla="val 11290"/>
            </a:avLst>
          </a:prstGeom>
          <a:solidFill>
            <a:srgbClr val="3B82F6"/>
          </a:solidFill>
          <a:ln/>
          <a:effectLst>
            <a:outerShdw blurRad="114300" dist="38100" dir="5400000" algn="bl" rotWithShape="0">
              <a:srgbClr val="0E1B33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5385816" y="1993392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Bull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620256" y="1993392"/>
            <a:ext cx="1143000" cy="566928"/>
          </a:xfrm>
          <a:prstGeom prst="roundRect">
            <a:avLst>
              <a:gd name="adj" fmla="val 11290"/>
            </a:avLst>
          </a:prstGeom>
          <a:solidFill>
            <a:srgbClr val="EF6F6C"/>
          </a:solidFill>
          <a:ln/>
          <a:effectLst>
            <a:outerShdw blurRad="114300" dist="38100" dir="5400000" algn="bl" rotWithShape="0">
              <a:srgbClr val="0E1B33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6665976" y="1993392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Bear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157216" y="2615184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8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매수 ↔ 매도 교대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001000" y="2446020"/>
            <a:ext cx="384048" cy="0"/>
          </a:xfrm>
          <a:prstGeom prst="line">
            <a:avLst/>
          </a:prstGeom>
          <a:noFill/>
          <a:ln w="31750">
            <a:solidFill>
              <a:srgbClr val="2DD4BF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8412480" y="2011680"/>
            <a:ext cx="1755648" cy="868680"/>
          </a:xfrm>
          <a:prstGeom prst="roundRect">
            <a:avLst>
              <a:gd name="adj" fmla="val 7368"/>
            </a:avLst>
          </a:prstGeom>
          <a:solidFill>
            <a:srgbClr val="1B2B4D"/>
          </a:solidFill>
          <a:ln/>
          <a:effectLst>
            <a:outerShdw blurRad="114300" dist="38100" dir="5400000" algn="bl" rotWithShape="0">
              <a:srgbClr val="0E1B33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8458200" y="2011680"/>
            <a:ext cx="16642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moderator_check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0222992" y="2446020"/>
            <a:ext cx="365760" cy="0"/>
          </a:xfrm>
          <a:prstGeom prst="line">
            <a:avLst/>
          </a:prstGeom>
          <a:noFill/>
          <a:ln w="31750">
            <a:solidFill>
              <a:srgbClr val="2DD4BF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10625328" y="2011680"/>
            <a:ext cx="914400" cy="868680"/>
          </a:xfrm>
          <a:prstGeom prst="roundRect">
            <a:avLst>
              <a:gd name="adj" fmla="val 7368"/>
            </a:avLst>
          </a:prstGeom>
          <a:solidFill>
            <a:srgbClr val="0F9488"/>
          </a:solidFill>
          <a:ln/>
          <a:effectLst>
            <a:outerShdw blurRad="114300" dist="38100" dir="5400000" algn="bl" rotWithShape="0">
              <a:srgbClr val="0E1B33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10671048" y="2011680"/>
            <a:ext cx="822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summary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" y="35204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94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moderator_check — 발언마다 사회자 판정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40080" y="3931920"/>
            <a:ext cx="3520440" cy="91440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640080" y="3931920"/>
            <a:ext cx="91440" cy="914400"/>
          </a:xfrm>
          <a:prstGeom prst="rect">
            <a:avLst/>
          </a:prstGeom>
          <a:solidFill>
            <a:srgbClr val="0F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896112" y="404164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94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ok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96112" y="4407408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근거 충분 → 다음 발언 진행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407408" y="3931920"/>
            <a:ext cx="3520440" cy="91440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4407408" y="3931920"/>
            <a:ext cx="91440" cy="9144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4663440" y="404164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B82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intervene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4663440" y="4407408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논점 이탈 → 사회자가 개입·교정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174736" y="3931920"/>
            <a:ext cx="3520440" cy="91440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8174736" y="3931920"/>
            <a:ext cx="91440" cy="914400"/>
          </a:xfrm>
          <a:prstGeom prst="rect">
            <a:avLst/>
          </a:prstGeom>
          <a:solidFill>
            <a:srgbClr val="EF6F6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8430768" y="404164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F6F6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hallucination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8430768" y="4407408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근거 없는 주장 → 환각 카운트 +1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40080" y="5074920"/>
            <a:ext cx="5394960" cy="1051560"/>
          </a:xfrm>
          <a:prstGeom prst="roundRect">
            <a:avLst>
              <a:gd name="adj" fmla="val 6087"/>
            </a:avLst>
          </a:prstGeom>
          <a:solidFill>
            <a:srgbClr val="0E1B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960120" y="52120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DD4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환각 2회</a:t>
            </a:r>
            <a:r>
              <a:rPr lang="en-US" sz="15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누적 시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960120" y="5596128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7D2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토론을 조기 종료해 잘못된 근거의 확산을 차단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6153912" y="5074920"/>
            <a:ext cx="5394960" cy="1051560"/>
          </a:xfrm>
          <a:prstGeom prst="roundRect">
            <a:avLst>
              <a:gd name="adj" fmla="val 608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6473952" y="52120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94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18~21회</a:t>
            </a:r>
            <a:r>
              <a:rPr lang="en-US" sz="15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/ 1회 토론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6473952" y="5596128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8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opening · rebuttal · closing 3라운드 동안의 LLM 호출 수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F94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WHAT WORKS NOW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1B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이미 동작하는 핵심 기능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TickerTaka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645920"/>
            <a:ext cx="5285232" cy="1298448"/>
          </a:xfrm>
          <a:prstGeom prst="roundRect">
            <a:avLst>
              <a:gd name="adj" fmla="val 493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0E1B33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892808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182880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1B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모델 + 클라우드 DB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508760" y="2267712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6B8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SQLAlchemy 전 테이블 매핑 및 클라우드 DB 연동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172200" y="1645920"/>
            <a:ext cx="5285232" cy="1298448"/>
          </a:xfrm>
          <a:prstGeom prst="roundRect">
            <a:avLst>
              <a:gd name="adj" fmla="val 493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0E1B33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892808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40880" y="182880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1B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뉴스 수집 파이프라인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7040880" y="2267712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6B8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네이버 API + 본문 추출 + 관련도 필터 + Redis lock/cooldown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40080" y="3127248"/>
            <a:ext cx="5285232" cy="1298448"/>
          </a:xfrm>
          <a:prstGeom prst="roundRect">
            <a:avLst>
              <a:gd name="adj" fmla="val 493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0E1B33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374136"/>
            <a:ext cx="384048" cy="38404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508760" y="331012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1B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공시 수집 &amp; 인덱싱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1508760" y="3749040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6B8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DART 공시 수집 후 Chroma 벡터 인덱싱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6172200" y="3127248"/>
            <a:ext cx="5285232" cy="1298448"/>
          </a:xfrm>
          <a:prstGeom prst="roundRect">
            <a:avLst>
              <a:gd name="adj" fmla="val 493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0E1B33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3374136"/>
            <a:ext cx="384048" cy="38404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040880" y="331012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1B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LangGraph 토론 그래프</a:t>
            </a:r>
            <a:endParaRPr lang="en-US" sz="1600" dirty="0"/>
          </a:p>
        </p:txBody>
      </p:sp>
      <p:sp>
        <p:nvSpPr>
          <p:cNvPr id="21" name="Text 15"/>
          <p:cNvSpPr/>
          <p:nvPr/>
        </p:nvSpPr>
        <p:spPr>
          <a:xfrm>
            <a:off x="7040880" y="3749040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6B8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6개 노드 + 역할별 LLM Factory + 토론 영구화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640080" y="4608576"/>
            <a:ext cx="5285232" cy="1298448"/>
          </a:xfrm>
          <a:prstGeom prst="roundRect">
            <a:avLst>
              <a:gd name="adj" fmla="val 493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0E1B33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855464"/>
            <a:ext cx="384048" cy="38404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508760" y="4791456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1B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근거 기반 RAG</a:t>
            </a:r>
            <a:endParaRPr lang="en-US" sz="1600" dirty="0"/>
          </a:p>
        </p:txBody>
      </p:sp>
      <p:sp>
        <p:nvSpPr>
          <p:cNvPr id="25" name="Text 18"/>
          <p:cNvSpPr/>
          <p:nvPr/>
        </p:nvSpPr>
        <p:spPr>
          <a:xfrm>
            <a:off x="1508760" y="5230368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6B8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EvidenceRetrieval로 발언 근거를 실시간 검색·주입</a:t>
            </a:r>
            <a:endParaRPr lang="en-US" sz="1250" dirty="0"/>
          </a:p>
        </p:txBody>
      </p:sp>
      <p:sp>
        <p:nvSpPr>
          <p:cNvPr id="26" name="Shape 19"/>
          <p:cNvSpPr/>
          <p:nvPr/>
        </p:nvSpPr>
        <p:spPr>
          <a:xfrm>
            <a:off x="6172200" y="4608576"/>
            <a:ext cx="5285232" cy="1298448"/>
          </a:xfrm>
          <a:prstGeom prst="roundRect">
            <a:avLst>
              <a:gd name="adj" fmla="val 493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0E1B33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4855464"/>
            <a:ext cx="384048" cy="384048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7040880" y="4791456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1B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프론트 연동 API</a:t>
            </a:r>
            <a:endParaRPr lang="en-US" sz="1600" dirty="0"/>
          </a:p>
        </p:txBody>
      </p:sp>
      <p:sp>
        <p:nvSpPr>
          <p:cNvPr id="29" name="Text 21"/>
          <p:cNvSpPr/>
          <p:nvPr/>
        </p:nvSpPr>
        <p:spPr>
          <a:xfrm>
            <a:off x="7040880" y="5230368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6B8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관심종목 등록 시 백그라운드 뉴스 자동 동기화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F94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NEXT · 01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1B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LLM 모델 교체로 토론 속도 개선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TickerTaka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09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1360" y="713232"/>
            <a:ext cx="548640" cy="5486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1783080"/>
            <a:ext cx="5285232" cy="18288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0E1B33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640080" y="1783080"/>
            <a:ext cx="109728" cy="1828800"/>
          </a:xfrm>
          <a:prstGeom prst="rect">
            <a:avLst/>
          </a:prstGeom>
          <a:solidFill>
            <a:srgbClr val="EF6F6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1005840" y="203911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9534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현재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005840" y="2606040"/>
            <a:ext cx="4709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B8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OpenRouter 무료 </a:t>
            </a:r>
            <a:r>
              <a:rPr lang="en-US" sz="1400" dirty="0" err="1">
                <a:solidFill>
                  <a:srgbClr val="5B6B8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</a:t>
            </a:r>
            <a:r>
              <a:rPr lang="en-US" sz="1400" dirty="0">
                <a:solidFill>
                  <a:srgbClr val="5B6B8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(gpt-oss-120b) 사용</a:t>
            </a:r>
            <a:endParaRPr lang="en-US" sz="1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B8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응답 지연이 크다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172200" y="1783080"/>
            <a:ext cx="5285232" cy="18288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0E1B33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6172200" y="1783080"/>
            <a:ext cx="109728" cy="1828800"/>
          </a:xfrm>
          <a:prstGeom prst="rect">
            <a:avLst/>
          </a:prstGeom>
          <a:solidFill>
            <a:srgbClr val="0F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6537960" y="203911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94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개선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6537960" y="2606040"/>
            <a:ext cx="4709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B8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역할별로 더 빠르고 안정적인 모델로 교체</a:t>
            </a:r>
            <a:endParaRPr lang="en-US" sz="1400" dirty="0"/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rgbClr val="5B6B8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</a:t>
            </a:r>
            <a:r>
              <a:rPr lang="ko-KR" altLang="en-US" sz="1400" dirty="0">
                <a:solidFill>
                  <a:srgbClr val="5B6B8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400" dirty="0">
                <a:solidFill>
                  <a:srgbClr val="5B6B8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temperature · 프롬프트 최적화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40080" y="3840480"/>
            <a:ext cx="5285232" cy="18288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0E1B33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3"/>
          <p:cNvSpPr/>
          <p:nvPr/>
        </p:nvSpPr>
        <p:spPr>
          <a:xfrm>
            <a:off x="640080" y="3840480"/>
            <a:ext cx="109728" cy="18288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1005840" y="409651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B82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보강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1005840" y="4663440"/>
            <a:ext cx="4709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B8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LLM 응답 캐시(Redis) + LangGraph 체크포인트</a:t>
            </a:r>
            <a:endParaRPr lang="en-US" sz="1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B8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재시도·중복 호출 비용 절감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6172200" y="3840480"/>
            <a:ext cx="5285232" cy="18288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0E1B33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7"/>
          <p:cNvSpPr/>
          <p:nvPr/>
        </p:nvSpPr>
        <p:spPr>
          <a:xfrm>
            <a:off x="6172200" y="3840480"/>
            <a:ext cx="109728" cy="1828800"/>
          </a:xfrm>
          <a:prstGeom prst="rect">
            <a:avLst/>
          </a:prstGeom>
          <a:solidFill>
            <a:srgbClr val="0E1B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/>
          <p:nvPr/>
        </p:nvSpPr>
        <p:spPr>
          <a:xfrm>
            <a:off x="6537960" y="409651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1B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기대효과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6537960" y="4588284"/>
            <a:ext cx="4709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5B6B8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18~21회 호출 토론의 </a:t>
            </a:r>
            <a:r>
              <a:rPr lang="en-US" sz="1400" dirty="0" err="1">
                <a:solidFill>
                  <a:srgbClr val="5B6B8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체감</a:t>
            </a:r>
            <a:r>
              <a:rPr lang="en-US" sz="1400" dirty="0">
                <a:solidFill>
                  <a:srgbClr val="5B6B8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400" dirty="0" err="1">
                <a:solidFill>
                  <a:srgbClr val="5B6B8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속도와</a:t>
            </a:r>
            <a:r>
              <a:rPr lang="ko-KR" altLang="en-US" sz="1400" dirty="0">
                <a:solidFill>
                  <a:srgbClr val="5B6B8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1400" dirty="0" err="1">
                <a:solidFill>
                  <a:srgbClr val="5B6B8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발언</a:t>
            </a:r>
            <a:r>
              <a:rPr lang="en-US" altLang="ko-KR" sz="1400" dirty="0">
                <a:solidFill>
                  <a:srgbClr val="5B6B8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1400" dirty="0" err="1">
                <a:solidFill>
                  <a:srgbClr val="5B6B8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일관성</a:t>
            </a:r>
            <a:r>
              <a:rPr lang="en-US" altLang="ko-KR" sz="1400" dirty="0">
                <a:solidFill>
                  <a:srgbClr val="5B6B8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1400" dirty="0" err="1">
                <a:solidFill>
                  <a:srgbClr val="5B6B8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동시</a:t>
            </a:r>
            <a:r>
              <a:rPr lang="en-US" altLang="ko-KR" sz="1400" dirty="0">
                <a:solidFill>
                  <a:srgbClr val="5B6B8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1400" dirty="0" err="1">
                <a:solidFill>
                  <a:srgbClr val="5B6B8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개선</a:t>
            </a:r>
            <a:endParaRPr lang="en-US" altLang="ko-KR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F94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NEXT · 02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1B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sLLM 기반 뉴스·공시 감성 분석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TickerTaka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1360" y="713232"/>
            <a:ext cx="548640" cy="5486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1737360"/>
            <a:ext cx="5285232" cy="1207008"/>
          </a:xfrm>
          <a:prstGeom prst="roundRect">
            <a:avLst>
              <a:gd name="adj" fmla="val 606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868680" y="1874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9534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68680" y="224028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B6B8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토론 때마다 긴 본문을 매번 재해석 → 느리고 판단이 흔들린다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40080" y="3072384"/>
            <a:ext cx="5285232" cy="1207008"/>
          </a:xfrm>
          <a:prstGeom prst="roundRect">
            <a:avLst>
              <a:gd name="adj" fmla="val 606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868680" y="320954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94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방향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31102" y="3562778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5000"/>
              </a:lnSpc>
            </a:pPr>
            <a:r>
              <a:rPr lang="en-US" sz="1400" dirty="0">
                <a:solidFill>
                  <a:srgbClr val="5B6B8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수집·인덱싱 시점에 한 </a:t>
            </a:r>
            <a:r>
              <a:rPr lang="en-US" sz="1400" dirty="0" err="1">
                <a:solidFill>
                  <a:srgbClr val="5B6B8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번</a:t>
            </a:r>
            <a:r>
              <a:rPr lang="en-US" sz="1400" dirty="0">
                <a:solidFill>
                  <a:srgbClr val="5B6B8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400" dirty="0" err="1">
                <a:solidFill>
                  <a:srgbClr val="5B6B8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분석해</a:t>
            </a:r>
            <a:r>
              <a:rPr lang="ko-KR" altLang="en-US" sz="1400" dirty="0">
                <a:solidFill>
                  <a:srgbClr val="5B6B8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1400" dirty="0">
                <a:solidFill>
                  <a:srgbClr val="5B6B8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DB(</a:t>
            </a:r>
            <a:r>
              <a:rPr lang="en-US" altLang="ko-KR" sz="1400" dirty="0" err="1">
                <a:solidFill>
                  <a:srgbClr val="5B6B8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evidence_analysis</a:t>
            </a:r>
            <a:r>
              <a:rPr lang="en-US" altLang="ko-KR" sz="1400" dirty="0">
                <a:solidFill>
                  <a:srgbClr val="5B6B8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)</a:t>
            </a:r>
            <a:r>
              <a:rPr lang="en-US" altLang="ko-KR" sz="1400" dirty="0" err="1">
                <a:solidFill>
                  <a:srgbClr val="5B6B8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</a:t>
            </a:r>
            <a:r>
              <a:rPr lang="en-US" altLang="ko-KR" sz="1400" dirty="0">
                <a:solidFill>
                  <a:srgbClr val="5B6B8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1400" dirty="0" err="1">
                <a:solidFill>
                  <a:srgbClr val="5B6B8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저장</a:t>
            </a:r>
            <a:endParaRPr lang="en-US" altLang="ko-KR" sz="1400" dirty="0"/>
          </a:p>
        </p:txBody>
      </p:sp>
      <p:sp>
        <p:nvSpPr>
          <p:cNvPr id="13" name="Shape 10"/>
          <p:cNvSpPr/>
          <p:nvPr/>
        </p:nvSpPr>
        <p:spPr>
          <a:xfrm>
            <a:off x="640080" y="4407408"/>
            <a:ext cx="5285232" cy="1207008"/>
          </a:xfrm>
          <a:prstGeom prst="roundRect">
            <a:avLst>
              <a:gd name="adj" fmla="val 6061"/>
            </a:avLst>
          </a:prstGeom>
          <a:solidFill>
            <a:srgbClr val="0E1B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868680" y="45445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D4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효과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868680" y="4910328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7D2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에이전트가 원문이 아니라 '정리된 투자 관점 해석'으로 토론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172200" y="1737360"/>
            <a:ext cx="5376672" cy="2542032"/>
          </a:xfrm>
          <a:prstGeom prst="roundRect">
            <a:avLst>
              <a:gd name="adj" fmla="val 287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0E1B33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6400800" y="18745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1B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엔진 — KR-FinBert-SC + 규칙 기반 추출 요약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400800" y="2286000"/>
            <a:ext cx="50292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sentiment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5B6B8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positive / negative / neutral / mixed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impact_score · key_points · risks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5B6B8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영향도(-2 ~ +2) · 핵심 포인트 · 리스크 추출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투자 키워드 규칙 보정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5B6B8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예: '유상증자' → 부정 쪽으로 가중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6172200" y="4407408"/>
            <a:ext cx="5376672" cy="1207008"/>
          </a:xfrm>
          <a:prstGeom prst="roundRect">
            <a:avLst>
              <a:gd name="adj" fmla="val 6061"/>
            </a:avLst>
          </a:prstGeom>
          <a:solidFill>
            <a:srgbClr val="F8FAFC"/>
          </a:solidFill>
          <a:ln w="15875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/>
          <p:nvPr/>
        </p:nvSpPr>
        <p:spPr>
          <a:xfrm>
            <a:off x="6400800" y="45445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B82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확장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6400800" y="4910328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B6B8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필요 시 Qwen2.5-3B 로컬 생성 요약으로 분석 품질 고도화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723</Words>
  <Application>Microsoft Office PowerPoint</Application>
  <PresentationFormat>와이드스크린</PresentationFormat>
  <Paragraphs>180</Paragraphs>
  <Slides>10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3" baseType="lpstr">
      <vt:lpstr>Noto Sans KR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TickerTaka — AI 종목 토론 대시보드</dc:title>
  <dc:subject>PptxGenJS Presentation</dc:subject>
  <dc:creator>TickerTaka Team</dc:creator>
  <cp:lastModifiedBy>최진혁(2020150046)</cp:lastModifiedBy>
  <cp:revision>3</cp:revision>
  <dcterms:created xsi:type="dcterms:W3CDTF">2026-05-30T05:03:25Z</dcterms:created>
  <dcterms:modified xsi:type="dcterms:W3CDTF">2026-05-30T05:56:25Z</dcterms:modified>
</cp:coreProperties>
</file>